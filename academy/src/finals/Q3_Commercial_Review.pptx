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F5FE6"/>
            </a:solidFill>
          </c:spPr>
          <c:cat>
            <c:strRef>
              <c:f>Sheet1!$A$2:$A$5</c:f>
              <c:strCache>
                <c:ptCount val="4"/>
                <c:pt idx="0">
                  <c:v>Cairo</c:v>
                </c:pt>
                <c:pt idx="1">
                  <c:v>Alexandria</c:v>
                </c:pt>
                <c:pt idx="2">
                  <c:v>Delta</c:v>
                </c:pt>
                <c:pt idx="3">
                  <c:v>Export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72.4</c:v>
                </c:pt>
                <c:pt idx="1">
                  <c:v>51.0</c:v>
                </c:pt>
                <c:pt idx="2">
                  <c:v>57.9</c:v>
                </c:pt>
                <c:pt idx="3">
                  <c:v>148.3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7F5"/>
            </a:solidFill>
          </c:spPr>
          <c:cat>
            <c:strRef>
              <c:f>Sheet1!$A$2:$A$5</c:f>
              <c:strCache>
                <c:ptCount val="4"/>
                <c:pt idx="0">
                  <c:v>Cairo</c:v>
                </c:pt>
                <c:pt idx="1">
                  <c:v>Alexandria</c:v>
                </c:pt>
                <c:pt idx="2">
                  <c:v>Delta</c:v>
                </c:pt>
                <c:pt idx="3">
                  <c:v>Export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75.0</c:v>
                </c:pt>
                <c:pt idx="1">
                  <c:v>47.0</c:v>
                </c:pt>
                <c:pt idx="2">
                  <c:v>63.0</c:v>
                </c:pt>
                <c:pt idx="3">
                  <c:v>144.0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F5FE6"/>
            </a:solidFill>
          </c:spPr>
          <c:cat>
            <c:strRef>
              <c:f>Sheet1!$A$2:$A$4</c:f>
              <c:strCache>
                <c:ptCount val="3"/>
                <c:pt idx="0">
                  <c:v>July</c:v>
                </c:pt>
                <c:pt idx="1">
                  <c:v>August</c:v>
                </c:pt>
                <c:pt idx="2">
                  <c:v>September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102.8</c:v>
                </c:pt>
                <c:pt idx="1">
                  <c:v>102.9</c:v>
                </c:pt>
                <c:pt idx="2">
                  <c:v>123.9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Net sales</c:v>
                </c:pt>
              </c:strCache>
            </c:strRef>
          </c:tx>
          <c:spPr>
            <a:solidFill>
              <a:srgbClr val="2F5FE6"/>
            </a:solidFill>
          </c:spPr>
          <c:cat>
            <c:strRef>
              <c:f>Sheet1!$A$2:$A$10</c:f>
              <c:strCache>
                <c:ptCount val="9"/>
                <c:pt idx="0">
                  <c:v>Kenya</c:v>
                </c:pt>
                <c:pt idx="1">
                  <c:v>Jordan</c:v>
                </c:pt>
                <c:pt idx="2">
                  <c:v>Morocco</c:v>
                </c:pt>
                <c:pt idx="3">
                  <c:v>Nigeria</c:v>
                </c:pt>
                <c:pt idx="4">
                  <c:v>Saudi Arabia</c:v>
                </c:pt>
                <c:pt idx="5">
                  <c:v>United Arab Emirates</c:v>
                </c:pt>
                <c:pt idx="6">
                  <c:v>Kuwait</c:v>
                </c:pt>
                <c:pt idx="7">
                  <c:v>Libya</c:v>
                </c:pt>
                <c:pt idx="8">
                  <c:v>Iraq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12.0</c:v>
                </c:pt>
                <c:pt idx="1">
                  <c:v>12.9</c:v>
                </c:pt>
                <c:pt idx="2">
                  <c:v>14.2</c:v>
                </c:pt>
                <c:pt idx="3">
                  <c:v>14.5</c:v>
                </c:pt>
                <c:pt idx="4">
                  <c:v>14.9</c:v>
                </c:pt>
                <c:pt idx="5">
                  <c:v>15.4</c:v>
                </c:pt>
                <c:pt idx="6">
                  <c:v>19.0</c:v>
                </c:pt>
                <c:pt idx="7">
                  <c:v>20.8</c:v>
                </c:pt>
                <c:pt idx="8">
                  <c:v>24.7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Freight per set</c:v>
                </c:pt>
              </c:strCache>
            </c:strRef>
          </c:tx>
          <c:spPr>
            <a:solidFill>
              <a:srgbClr val="2F5FE6"/>
            </a:solidFill>
          </c:spPr>
          <c:cat>
            <c:strRef>
              <c:f>Sheet1!$A$2:$A$5</c:f>
              <c:strCache>
                <c:ptCount val="4"/>
                <c:pt idx="0">
                  <c:v>Cairo</c:v>
                </c:pt>
                <c:pt idx="1">
                  <c:v>Alexandria</c:v>
                </c:pt>
                <c:pt idx="2">
                  <c:v>Delta</c:v>
                </c:pt>
                <c:pt idx="3">
                  <c:v>Export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19.3</c:v>
                </c:pt>
                <c:pt idx="1">
                  <c:v>29</c:v>
                </c:pt>
                <c:pt idx="2">
                  <c:v>24.1</c:v>
                </c:pt>
                <c:pt idx="3">
                  <c:v>125.3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Q3 Commercial Review</a:t>
            </a:r>
          </a:p>
          <a:p>
            <a:r>
              <a:rPr sz="1400">
                <a:solidFill>
                  <a:srgbClr val="6B7280"/>
                </a:solidFill>
              </a:rPr>
              <a:t>1 July to 30 September 2026 · prepared from the branch files, the system reports and the memos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Key figures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EGP 329.6 M</a:t>
            </a:r>
          </a:p>
          <a:p>
            <a:r>
              <a:rPr sz="1300">
                <a:solidFill>
                  <a:srgbClr val="1F2937"/>
                </a:solidFill>
              </a:rPr>
              <a:t>Net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25,276</a:t>
            </a:r>
          </a:p>
          <a:p>
            <a:r>
              <a:rPr sz="1300">
                <a:solidFill>
                  <a:srgbClr val="1F2937"/>
                </a:solidFill>
              </a:rPr>
              <a:t>Sets sold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100.2%</a:t>
            </a:r>
          </a:p>
          <a:p>
            <a:r>
              <a:rPr sz="1300">
                <a:solidFill>
                  <a:srgbClr val="1F2937"/>
                </a:solidFill>
              </a:rPr>
              <a:t>Achievement against target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EGP 60.7</a:t>
            </a:r>
          </a:p>
          <a:p>
            <a:r>
              <a:rPr sz="1300">
                <a:solidFill>
                  <a:srgbClr val="1F2937"/>
                </a:solidFill>
              </a:rPr>
              <a:t>Freight per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Sales against target by channel</a:t>
            </a:r>
          </a:p>
          <a:p>
            <a:r>
              <a:rPr sz="1400">
                <a:solidFill>
                  <a:srgbClr val="6B7280"/>
                </a:solidFill>
              </a:rPr>
              <a:t>Net sales and target, EGP million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7498079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828800"/>
            <a:ext cx="3291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F2937"/>
                </a:solidFill>
              </a:rPr>
              <a:t>Cairo: 96.6%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F2937"/>
                </a:solidFill>
              </a:rPr>
              <a:t>Alexandria: 108.6%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F2937"/>
                </a:solidFill>
              </a:rPr>
              <a:t>Delta: 91.8%</a:t>
            </a:r>
          </a:p>
          <a:p>
            <a:pPr>
              <a:spcAft>
                <a:spcPts val="1400"/>
              </a:spcAft>
            </a:pPr>
            <a:r>
              <a:rPr sz="2200" b="1">
                <a:solidFill>
                  <a:srgbClr val="1F2937"/>
                </a:solidFill>
              </a:rPr>
              <a:t>Export: 103.0%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Monthly trend</a:t>
            </a:r>
          </a:p>
          <a:p>
            <a:r>
              <a:rPr sz="1400">
                <a:solidFill>
                  <a:srgbClr val="6B7280"/>
                </a:solidFill>
              </a:rPr>
              <a:t>Net sales, EGP million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0972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Export sales by country</a:t>
            </a:r>
          </a:p>
          <a:p>
            <a:r>
              <a:rPr sz="1400">
                <a:solidFill>
                  <a:srgbClr val="6B7280"/>
                </a:solidFill>
              </a:rPr>
              <a:t>Net sales, EGP million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0972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Logistics</a:t>
            </a:r>
          </a:p>
          <a:p>
            <a:r>
              <a:rPr sz="1400">
                <a:solidFill>
                  <a:srgbClr val="6B7280"/>
                </a:solidFill>
              </a:rPr>
              <a:t>135 shipments · 25,276 sets shipped · freight per set by channel, EGP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09728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Returns</a:t>
            </a:r>
          </a:p>
          <a:p>
            <a:r>
              <a:rPr sz="1400">
                <a:solidFill>
                  <a:srgbClr val="6B7280"/>
                </a:solidFill>
              </a:rPr>
              <a:t>The three models with the highest return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2.4%</a:t>
            </a:r>
          </a:p>
          <a:p>
            <a:r>
              <a:rPr sz="1300">
                <a:solidFill>
                  <a:srgbClr val="1F2937"/>
                </a:solidFill>
              </a:rPr>
              <a:t>M110 · 65-inch 4K TV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1.9%</a:t>
            </a:r>
          </a:p>
          <a:p>
            <a:r>
              <a:rPr sz="1300">
                <a:solidFill>
                  <a:srgbClr val="1F2937"/>
                </a:solidFill>
              </a:rPr>
              <a:t>M112 · 75-inch 4K TV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554480"/>
            <a:ext cx="2651760" cy="1371600"/>
          </a:xfrm>
          <a:prstGeom prst="rect">
            <a:avLst/>
          </a:prstGeom>
          <a:solidFill>
            <a:srgbClr val="E8E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2F5FE6"/>
                </a:solidFill>
              </a:rPr>
              <a:t>1.3%</a:t>
            </a:r>
          </a:p>
          <a:p>
            <a:r>
              <a:rPr sz="1300">
                <a:solidFill>
                  <a:srgbClr val="1F2937"/>
                </a:solidFill>
              </a:rPr>
              <a:t>M111 · 65-inch QLED TV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B7280"/>
                </a:solidFill>
              </a:rPr>
              <a:t>281 sets returned in the quarter, against 25,276 sold.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</a:rPr>
              <a:t>For discussion</a:t>
            </a:r>
          </a:p>
          <a:p>
            <a:r>
              <a:rPr sz="1400">
                <a:solidFill>
                  <a:srgbClr val="6B7280"/>
                </a:solidFill>
              </a:rPr>
              <a:t>The director's conclusions and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